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731520"/>
            <a:ext cx="10362895" cy="5394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960120"/>
            <a:ext cx="963137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284C7"/>
                </a:solidFill>
              </a:defRPr>
            </a:pPr>
            <a:r>
              <a:t>⚡ AUTONOMOUS CYBER-PHYSICAL OPERATING SYSTEM ⚡</a:t>
            </a:r>
          </a:p>
          <a:p>
            <a:pPr algn="ctr">
              <a:spcBef>
                <a:spcPts val="400"/>
              </a:spcBef>
              <a:defRPr sz="4400" b="1">
                <a:solidFill>
                  <a:srgbClr val="0F172A"/>
                </a:solidFill>
              </a:defRPr>
            </a:pPr>
            <a:r>
              <a:t>GridOS™</a:t>
            </a:r>
          </a:p>
          <a:p>
            <a:pPr algn="ctr">
              <a:spcBef>
                <a:spcPts val="400"/>
              </a:spcBef>
              <a:defRPr sz="1800" b="1">
                <a:solidFill>
                  <a:srgbClr val="059669"/>
                </a:solidFill>
              </a:defRPr>
            </a:pPr>
            <a:r>
              <a:t>Autonomous Multi-Agent Renewable Energy Microgrid Orchestrator</a:t>
            </a:r>
          </a:p>
          <a:p>
            <a:pPr algn="ctr">
              <a:spcBef>
                <a:spcPts val="1000"/>
              </a:spcBef>
              <a:defRPr sz="1150">
                <a:solidFill>
                  <a:srgbClr val="475569"/>
                </a:solidFill>
              </a:defRPr>
            </a:pPr>
            <a:r>
              <a:t>NEXRAD Doppler Radar Vision (D3)  •  Deterministic HiGHS Simplex SCED (D2)  •  Closed-Loop SCADA (F1-F3)</a:t>
            </a:r>
            <a:br/>
            <a:r>
              <a:t>Zero Kirchhoff Imbalance (|Δ| = 0.00 MW)  •  Sovereign Multi-Agent Architecture  •  Google Gemini AI Audit</a:t>
            </a:r>
          </a:p>
          <a:p>
            <a:pPr algn="ctr">
              <a:spcBef>
                <a:spcPts val="1200"/>
              </a:spcBef>
              <a:defRPr sz="1100" b="1">
                <a:solidFill>
                  <a:srgbClr val="7C3AED"/>
                </a:solidFill>
              </a:defRPr>
            </a:pPr>
            <a:r>
              <a:t>🏭 45 MW Solar PV  |  💨 35 MW Wind Farm  |  🔋 25 MW / 100 MWh BESS  |  🌐 50 MW Intertie  |  🏢 40 MW Load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34440" y="4343400"/>
            <a:ext cx="224028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44168" y="4434840"/>
            <a:ext cx="2020824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284C7"/>
                </a:solidFill>
              </a:defRPr>
            </a:pPr>
            <a:r>
              <a:t>👤 ManojKumar P</a:t>
            </a:r>
          </a:p>
          <a:p>
            <a:pPr>
              <a:spcBef>
                <a:spcPts val="200"/>
              </a:spcBef>
              <a:defRPr sz="1000" b="1">
                <a:solidFill>
                  <a:srgbClr val="0F172A"/>
                </a:solidFill>
              </a:defRPr>
            </a:pPr>
            <a:r>
              <a:t>Lead Systems Architect</a:t>
            </a:r>
          </a:p>
          <a:p>
            <a:pPr>
              <a:spcBef>
                <a:spcPts val="300"/>
              </a:spcBef>
              <a:defRPr sz="850">
                <a:solidFill>
                  <a:srgbClr val="475569"/>
                </a:solidFill>
              </a:defRPr>
            </a:pPr>
            <a:r>
              <a:t>Autonomous Multi-Agent Architecture &amp; HiGHS SCED LP Solver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94176" y="4343400"/>
            <a:ext cx="224028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03904" y="4434840"/>
            <a:ext cx="2020824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59669"/>
                </a:solidFill>
              </a:defRPr>
            </a:pPr>
            <a:r>
              <a:t>👤 B Iniyavan</a:t>
            </a:r>
          </a:p>
          <a:p>
            <a:pPr>
              <a:spcBef>
                <a:spcPts val="200"/>
              </a:spcBef>
              <a:defRPr sz="1000" b="1">
                <a:solidFill>
                  <a:srgbClr val="0F172A"/>
                </a:solidFill>
              </a:defRPr>
            </a:pPr>
            <a:r>
              <a:t>Systems Co-Lead</a:t>
            </a:r>
          </a:p>
          <a:p>
            <a:pPr>
              <a:spcBef>
                <a:spcPts val="300"/>
              </a:spcBef>
              <a:defRPr sz="850">
                <a:solidFill>
                  <a:srgbClr val="475569"/>
                </a:solidFill>
              </a:defRPr>
            </a:pPr>
            <a:r>
              <a:t>SCADA Protocol Bus (IEC 61850 / DNP3) &amp; Real-Time Orchestration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53912" y="4343400"/>
            <a:ext cx="224028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4434840"/>
            <a:ext cx="2020824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7C3AED"/>
                </a:solidFill>
              </a:defRPr>
            </a:pPr>
            <a:r>
              <a:t>👤 Nishi Verma</a:t>
            </a:r>
          </a:p>
          <a:p>
            <a:pPr>
              <a:spcBef>
                <a:spcPts val="200"/>
              </a:spcBef>
              <a:defRPr sz="1000" b="1">
                <a:solidFill>
                  <a:srgbClr val="0F172A"/>
                </a:solidFill>
              </a:defRPr>
            </a:pPr>
            <a:r>
              <a:t>Power Optimization Lead</a:t>
            </a:r>
          </a:p>
          <a:p>
            <a:pPr>
              <a:spcBef>
                <a:spcPts val="300"/>
              </a:spcBef>
              <a:defRPr sz="850">
                <a:solidFill>
                  <a:srgbClr val="475569"/>
                </a:solidFill>
              </a:defRPr>
            </a:pPr>
            <a:r>
              <a:t>Wholesale Electricity Market Arbitrage &amp; Kirchhoff Balancer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13648" y="4343400"/>
            <a:ext cx="224028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23376" y="4434840"/>
            <a:ext cx="2020824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97706"/>
                </a:solidFill>
              </a:defRPr>
            </a:pPr>
            <a:r>
              <a:t>👤 Pasupulati Siva Puja</a:t>
            </a:r>
          </a:p>
          <a:p>
            <a:pPr>
              <a:spcBef>
                <a:spcPts val="200"/>
              </a:spcBef>
              <a:defRPr sz="1000" b="1">
                <a:solidFill>
                  <a:srgbClr val="0F172A"/>
                </a:solidFill>
              </a:defRPr>
            </a:pPr>
            <a:r>
              <a:t>Cyber-Physical AI Lead</a:t>
            </a:r>
          </a:p>
          <a:p>
            <a:pPr>
              <a:spcBef>
                <a:spcPts val="300"/>
              </a:spcBef>
              <a:defRPr sz="850">
                <a:solidFill>
                  <a:srgbClr val="475569"/>
                </a:solidFill>
              </a:defRPr>
            </a:pPr>
            <a:r>
              <a:t>Doppler Radar CV Vision Ingestion &amp; Gemini Regulatory Audit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106984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Calibri"/>
              </a:defRPr>
            </a:pPr>
            <a:r>
              <a:t>EXECUTIVE CHALLENGE &amp;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The Multi-Objective Microgrid Paradox &amp; Stochastic Shocks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3328416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296265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E11D48"/>
                </a:solidFill>
              </a:defRPr>
            </a:pPr>
            <a:r>
              <a:t>⚡ The Multi-Objective Paradox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• Financial vs. Physical Conflict: High spot price spikes ($350+/MWh) incentivize aggressive BESS discharging, but line thermal ratings (&lt;50 MW) risk catastrophic transformer overheating.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• Battery Wear Degradation: Uncoordinated cycling accelerates capacity loss; requires strict $28.50/MWh-cycle economic hurdle evaluation.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• Human Dispatch Inability: Human operators cannot arbitrate 15-minute market settlement against sub-second voltage and frequency stability in real time.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1417320"/>
            <a:ext cx="3328416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08576" y="1600200"/>
            <a:ext cx="296265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D97706"/>
                </a:solidFill>
              </a:defRPr>
            </a:pPr>
            <a:r>
              <a:t>⛈️ 7 Stochastic Shocks Handled</a:t>
            </a:r>
          </a:p>
          <a:p>
            <a:pPr>
              <a:spcBef>
                <a:spcPts val="700"/>
              </a:spcBef>
              <a:defRPr sz="1100">
                <a:solidFill>
                  <a:srgbClr val="475569"/>
                </a:solidFill>
              </a:defRPr>
            </a:pPr>
            <a:r>
              <a:t>• 1. Rapid Cloud Microburst (-80% solar in 3 min)</a:t>
            </a:r>
          </a:p>
          <a:p>
            <a:pPr>
              <a:spcBef>
                <a:spcPts val="700"/>
              </a:spcBef>
              <a:defRPr sz="1100">
                <a:solidFill>
                  <a:srgbClr val="475569"/>
                </a:solidFill>
              </a:defRPr>
            </a:pPr>
            <a:r>
              <a:t>• 2. Wind Cut-Out Gust (&gt;25 m/s emergency feathering)</a:t>
            </a:r>
          </a:p>
          <a:p>
            <a:pPr>
              <a:spcBef>
                <a:spcPts val="700"/>
              </a:spcBef>
              <a:defRPr sz="1100">
                <a:solidFill>
                  <a:srgbClr val="475569"/>
                </a:solidFill>
              </a:defRPr>
            </a:pPr>
            <a:r>
              <a:t>• 3. Wholesale Price Inversion (-$35/MWh negative prices)</a:t>
            </a:r>
          </a:p>
          <a:p>
            <a:pPr>
              <a:spcBef>
                <a:spcPts val="700"/>
              </a:spcBef>
              <a:defRPr sz="1100">
                <a:solidFill>
                  <a:srgbClr val="475569"/>
                </a:solidFill>
              </a:defRPr>
            </a:pPr>
            <a:r>
              <a:t>• 4. Intertie Islanding (feeder trip, 0 MW grid import)</a:t>
            </a:r>
          </a:p>
          <a:p>
            <a:pPr>
              <a:spcBef>
                <a:spcPts val="700"/>
              </a:spcBef>
              <a:defRPr sz="1100">
                <a:solidFill>
                  <a:srgbClr val="475569"/>
                </a:solidFill>
              </a:defRPr>
            </a:pPr>
            <a:r>
              <a:t>• 5. Industrial Demand Surge (+30% plant load spike)</a:t>
            </a:r>
          </a:p>
          <a:p>
            <a:pPr>
              <a:spcBef>
                <a:spcPts val="700"/>
              </a:spcBef>
              <a:defRPr sz="1100">
                <a:solidFill>
                  <a:srgbClr val="475569"/>
                </a:solidFill>
              </a:defRPr>
            </a:pPr>
            <a:r>
              <a:t>• 6. BESS Thermal Derate (55°C cell emergency cap)</a:t>
            </a:r>
          </a:p>
          <a:p>
            <a:pPr>
              <a:spcBef>
                <a:spcPts val="700"/>
              </a:spcBef>
              <a:defRPr sz="1100">
                <a:solidFill>
                  <a:srgbClr val="475569"/>
                </a:solidFill>
              </a:defRPr>
            </a:pPr>
            <a:r>
              <a:t>• 7. NEXRAD Doppler Storm Front (severe squall line)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1417320"/>
            <a:ext cx="3328416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02752" y="1600200"/>
            <a:ext cx="296265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59669"/>
                </a:solidFill>
              </a:defRPr>
            </a:pPr>
            <a:r>
              <a:t>🤖 The GridOS™ Resolution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• Dynamic Multi-Objective Pareto Arbitration: Quantitatively shifts trade-offs across cost, emissions, degradation, and reserve margins.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• Zero-Hallucination Determinism: LLM agents propose operational strategy; exact HiGHS simplex math enforces physical law.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• Exact Kirchhoff Balance: Mathematically proven zero energy imbalance (|ΣP_gen - ΣP_load| = 0.00 MW) every second.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106984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Three-Tier Cyber-Physical Technical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10728655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1036289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284C7"/>
                </a:solidFill>
              </a:defRPr>
            </a:pPr>
            <a:r>
              <a:t>TIER 1: MULTIMODAL PERCEPTION &amp; COGNITIVE MULTI-AGENT LAYER</a:t>
            </a:r>
          </a:p>
          <a:p>
            <a:pPr>
              <a:spcBef>
                <a:spcPts val="400"/>
              </a:spcBef>
              <a:defRPr sz="1050">
                <a:solidFill>
                  <a:srgbClr val="475569"/>
                </a:solidFill>
              </a:defRPr>
            </a:pPr>
            <a:r>
              <a:t>• AGT-01 Forecast (ResNet-18 CV on NEXRAD Doppler Radar + Physics Models)  |  • AGT-02 Market (Spot Arbitrage &amp; $28.50/MWh Hurdle)</a:t>
            </a:r>
            <a:br/>
            <a:r>
              <a:t>• AGT-03 Grid Reliability (NERC BAL-001, Feeder Thermal Ratings, IEEE C37.118 PMU)  |  • Google Gemini AI Multi-Agent reasoning &amp; JSON tools.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971800"/>
            <a:ext cx="10728655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063240"/>
            <a:ext cx="1036289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7C3AED"/>
                </a:solidFill>
              </a:defRPr>
            </a:pPr>
            <a:r>
              <a:t>TIER 2: CHIEF EXECUTIVE ORCHESTRATOR &amp; DETERMINISTIC HIGHS SOLVER (AGT-00-EXEC)</a:t>
            </a:r>
          </a:p>
          <a:p>
            <a:pPr>
              <a:spcBef>
                <a:spcPts val="400"/>
              </a:spcBef>
              <a:defRPr sz="1050">
                <a:solidFill>
                  <a:srgbClr val="475569"/>
                </a:solidFill>
              </a:defRPr>
            </a:pPr>
            <a:r>
              <a:t>• Dynamic Multi-Objective Pareto Formulation (Minimise Cost + Carbon + Battery Wear - Reliability Margins)</a:t>
            </a:r>
            <a:br/>
            <a:r>
              <a:t>• Mixed-Integer Security-Constrained Economic Dispatch (SCED) via HiGHS Solver in &lt;15ms</a:t>
            </a:r>
            <a:br/>
            <a:r>
              <a:t>• Hard Physical Constraints: Kirchhoff Current Law (|Δ| = 0.00 MW), BESS SoC [10%-90%], Ramp Limits (2.5 MW/min), Anti-Islanding.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526280"/>
            <a:ext cx="10728655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617720"/>
            <a:ext cx="1036289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59669"/>
                </a:solidFill>
              </a:defRPr>
            </a:pPr>
            <a:r>
              <a:t>TIER 3: CYBER-PHYSICAL SCADA ACTUATION &amp; HARDWARE PROTOCOLS</a:t>
            </a:r>
          </a:p>
          <a:p>
            <a:pPr>
              <a:spcBef>
                <a:spcPts val="400"/>
              </a:spcBef>
              <a:defRPr sz="1050">
                <a:solidFill>
                  <a:srgbClr val="475569"/>
                </a:solidFill>
              </a:defRPr>
            </a:pPr>
            <a:r>
              <a:t>• IEC 61850 GOOSE/MMS Substation Bus (&lt;4 ms intertie breaker trip)  |  • DNP3 Outstation (BESS 4-quadrant P/Q inverter setpoints)</a:t>
            </a:r>
            <a:br/>
            <a:r>
              <a:t>• IEEE C37.118 PMU Stream (60 fps frequency &amp; RoCoF)  |  • 15 Atomic SCADA Actuators across Inverters, Turbine Pitch, and Load Breakers.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106984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7C3AED"/>
                </a:solidFill>
                <a:latin typeface="Calibri"/>
              </a:defRPr>
            </a:pPr>
            <a:r>
              <a:t>DEDICATED SLIDE: MASTER CONTROL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The Chief Executive Orchestrator (AGT-00-EXEC)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52120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7C3AED"/>
                </a:solidFill>
              </a:defRPr>
            </a:pPr>
            <a:r>
              <a:t>⚖️ Dynamic Multi-Objective Pareto Formulation</a:t>
            </a:r>
          </a:p>
          <a:p>
            <a:pPr>
              <a:spcBef>
                <a:spcPts val="600"/>
              </a:spcBef>
              <a:defRPr sz="1200" b="1">
                <a:solidFill>
                  <a:srgbClr val="0284C7"/>
                </a:solidFill>
              </a:defRPr>
            </a:pPr>
            <a:r>
              <a:t>Min J = w_cost·C_market + w_carbon·E_carbon + w_deg·D_BESS - w_rel·R_spin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• Dynamic Weight Shifting: Rebalances weights w based on live state (e.g., w_rel surges from 0.20 to 0.85 during intertie islanding to preserve microgrid survival).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• Deterministic SCED Solver: Solves Mixed-Integer Linear Program via industrial HiGHS simplex engine in under 15 milliseconds.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• Kirchhoff Current Law Guarantee: Hard equality constraint ensures total generation exactly equals consumption + BESS net charge + curtailment.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• Zero-Hallucination Architecture: Language models are strictly air-gapped from direct SCADA setpoints; only verified math executes actuation.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8095" y="1417320"/>
            <a:ext cx="52120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30975" y="160020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284C7"/>
                </a:solidFill>
              </a:defRPr>
            </a:pPr>
            <a:r>
              <a:t>🧠 Autonomous Dispute Settlement &amp; Shock Response</a:t>
            </a:r>
          </a:p>
          <a:p>
            <a:pPr>
              <a:spcBef>
                <a:spcPts val="600"/>
              </a:spcBef>
              <a:defRPr sz="1200" b="1">
                <a:solidFill>
                  <a:srgbClr val="D97706"/>
                </a:solidFill>
              </a:defRPr>
            </a:pPr>
            <a:r>
              <a:t>How the Orchestrator Settles Agent Conflicts:</a:t>
            </a:r>
          </a:p>
          <a:p>
            <a:pPr>
              <a:spcBef>
                <a:spcPts val="700"/>
              </a:spcBef>
              <a:defRPr sz="1100">
                <a:solidFill>
                  <a:srgbClr val="475569"/>
                </a:solidFill>
              </a:defRPr>
            </a:pPr>
            <a:r>
              <a:t>• Market vs Reliability Conflict: Market Agent seeks $380/MWh BESS export; Grid Agent warns line flow will exceed 48 MW. Orchestrator clamps discharge to exactly 18.2 MW to maintain thermal headroom.</a:t>
            </a:r>
          </a:p>
          <a:p>
            <a:pPr>
              <a:spcBef>
                <a:spcPts val="700"/>
              </a:spcBef>
              <a:defRPr sz="1100">
                <a:solidFill>
                  <a:srgbClr val="475569"/>
                </a:solidFill>
              </a:defRPr>
            </a:pPr>
            <a:r>
              <a:t>• Negative Price Inversion: Spot price dives to -$35/MWh. Orchestrator suppresses export and directs 100% of excess solar into BESS fast charging.</a:t>
            </a:r>
          </a:p>
          <a:p>
            <a:pPr>
              <a:spcBef>
                <a:spcPts val="700"/>
              </a:spcBef>
              <a:defRPr sz="1100">
                <a:solidFill>
                  <a:srgbClr val="475569"/>
                </a:solidFill>
              </a:defRPr>
            </a:pPr>
            <a:r>
              <a:t>• Intertie Islanding: Detects breaker trip; immediately commands BESS to grid-forming mode (V/f) and sheds Tier-2 industrial loads in &lt;4 ms.</a:t>
            </a:r>
          </a:p>
          <a:p>
            <a:pPr>
              <a:spcBef>
                <a:spcPts val="700"/>
              </a:spcBef>
              <a:defRPr sz="1100">
                <a:solidFill>
                  <a:srgbClr val="475569"/>
                </a:solidFill>
              </a:defRPr>
            </a:pPr>
            <a:r>
              <a:t>• Radar Squall Line Pre-Emption: Ingests 12-min storm warning; pre-charges battery to 90% SoC before cloud arrival, averting blackout.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106984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Calibri"/>
              </a:defRPr>
            </a:pPr>
            <a:r>
              <a:t>DEDICATED SLIDE: MULTI-AGENT COLLECTIVE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The 4 Autonomous Agents: Functional Breakdown &amp; Capabilities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521208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484632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284C7"/>
                </a:solidFill>
              </a:defRPr>
            </a:pPr>
            <a:r>
              <a:t>🌤️ AGT-01: RENEWABLE FORECAST AGENT</a:t>
            </a:r>
          </a:p>
          <a:p>
            <a:pPr>
              <a:spcBef>
                <a:spcPts val="400"/>
              </a:spcBef>
              <a:defRPr sz="1050" b="1">
                <a:solidFill>
                  <a:srgbClr val="0F172A"/>
                </a:solidFill>
              </a:defRPr>
            </a:pPr>
            <a:r>
              <a:t>WHAT IT DOES: Predicts renewable power availability (0-4h) and detects approaching storm hazards before they impact generation.</a:t>
            </a:r>
          </a:p>
          <a:p>
            <a:pPr>
              <a:spcBef>
                <a:spcPts val="300"/>
              </a:spcBef>
              <a:defRPr sz="1000">
                <a:solidFill>
                  <a:srgbClr val="475569"/>
                </a:solidFill>
              </a:defRPr>
            </a:pPr>
            <a:r>
              <a:t>• ResNet-18 Vision: Ingests NEXRAD WSR-88D Doppler radar reflectivity (dBZ) to track convective cloud vectors (u, v).</a:t>
            </a:r>
            <a:br/>
            <a:r>
              <a:t>• Solar Attenuation: Translates cloud optical depth into ground solar irradiance (W/m²) and predicts solar PV output.</a:t>
            </a:r>
            <a:br/>
            <a:r>
              <a:t>• Wind Power Curve: Applies physical cut-in (3 m/s), rated (12 m/s), and cut-out (25 m/s) turbine dynamics.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8095" y="1417320"/>
            <a:ext cx="521208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30975" y="1554480"/>
            <a:ext cx="484632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97706"/>
                </a:solidFill>
              </a:defRPr>
            </a:pPr>
            <a:r>
              <a:t>💰 AGT-02: ENERGY MARKET AGENT</a:t>
            </a:r>
          </a:p>
          <a:p>
            <a:pPr>
              <a:spcBef>
                <a:spcPts val="400"/>
              </a:spcBef>
              <a:defRPr sz="1050" b="1">
                <a:solidFill>
                  <a:srgbClr val="0F172A"/>
                </a:solidFill>
              </a:defRPr>
            </a:pPr>
            <a:r>
              <a:t>WHAT IT DOES: Maximizes microgrid revenue, executes wholesale arbitrage, and protects assets against negative pricing.</a:t>
            </a:r>
          </a:p>
          <a:p>
            <a:pPr>
              <a:spcBef>
                <a:spcPts val="300"/>
              </a:spcBef>
              <a:defRPr sz="1000">
                <a:solidFill>
                  <a:srgbClr val="475569"/>
                </a:solidFill>
              </a:defRPr>
            </a:pPr>
            <a:r>
              <a:t>• Wholesale Arbitrage: Clears spot prices ($/MWh) to charge BESS during off-peak and discharge during peak spikes.</a:t>
            </a:r>
            <a:br/>
            <a:r>
              <a:t>• Degradation Hurdle: Enforces $28.50/MWh-cycle battery wear cost to prevent unprofitable micro-cycling.</a:t>
            </a:r>
            <a:br/>
            <a:r>
              <a:t>• Negative Price Defense: Shuts off grid export when prices drop below $0/MWh; charges battery at negative cost.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40480"/>
            <a:ext cx="521208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84632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59669"/>
                </a:solidFill>
              </a:defRPr>
            </a:pPr>
            <a:r>
              <a:t>🛡️ AGT-03: GRID RELIABILITY AGENT</a:t>
            </a:r>
          </a:p>
          <a:p>
            <a:pPr>
              <a:spcBef>
                <a:spcPts val="400"/>
              </a:spcBef>
              <a:defRPr sz="1050" b="1">
                <a:solidFill>
                  <a:srgbClr val="0F172A"/>
                </a:solidFill>
              </a:defRPr>
            </a:pPr>
            <a:r>
              <a:t>WHAT IT DOES: Enforces physical safety boundaries, prevents blackout cascade, and maintains NERC compliance.</a:t>
            </a:r>
          </a:p>
          <a:p>
            <a:pPr>
              <a:spcBef>
                <a:spcPts val="300"/>
              </a:spcBef>
              <a:defRPr sz="1000">
                <a:solidFill>
                  <a:srgbClr val="475569"/>
                </a:solidFill>
              </a:defRPr>
            </a:pPr>
            <a:r>
              <a:t>• NERC BAL-001 Surveillance: Tracks 60 Hz frequency corridors (59.8 - 60.2 Hz) and synchrophasor PMU RoCoF.</a:t>
            </a:r>
            <a:br/>
            <a:r>
              <a:t>• Feeder Thermal Protection: Monitors transformer MVA flows, preventing line overloads (&gt;50 MW feeder cap).</a:t>
            </a:r>
            <a:br/>
            <a:r>
              <a:t>• BESS Envelope Guard: Bounds battery SoC strictly between 10% and 90% and maintains ≥10 MW spinning reserve.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8095" y="3840480"/>
            <a:ext cx="521208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30975" y="3977639"/>
            <a:ext cx="484632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7C3AED"/>
                </a:solidFill>
              </a:defRPr>
            </a:pPr>
            <a:r>
              <a:t>👑 AGT-00: CHIEF EXECUTIVE ORCHESTRATOR</a:t>
            </a:r>
          </a:p>
          <a:p>
            <a:pPr>
              <a:spcBef>
                <a:spcPts val="400"/>
              </a:spcBef>
              <a:defRPr sz="1050" b="1">
                <a:solidFill>
                  <a:srgbClr val="0F172A"/>
                </a:solidFill>
              </a:defRPr>
            </a:pPr>
            <a:r>
              <a:t>WHAT IT DOES: Settles agent disputes, computes optimal dispatch via HiGHS simplex, and issues SCADA commands.</a:t>
            </a:r>
          </a:p>
          <a:p>
            <a:pPr>
              <a:spcBef>
                <a:spcPts val="300"/>
              </a:spcBef>
              <a:defRPr sz="1000">
                <a:solidFill>
                  <a:srgbClr val="475569"/>
                </a:solidFill>
              </a:defRPr>
            </a:pPr>
            <a:r>
              <a:t>• Multi-Objective Arbitration: Dynamically balances conflicting financial, environmental, and stability goals.</a:t>
            </a:r>
            <a:br/>
            <a:r>
              <a:t>• Exact SCED Optimization: Converts high-level strategy into zero-imbalance physical dispatch setpoints in &lt;15ms.</a:t>
            </a:r>
            <a:br/>
            <a:r>
              <a:t>• SCADA Hardware Dispatch: Commands 15 atomic actuators across BESS, PV inverters, wind turbines, and load breakers.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106984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Calibri"/>
              </a:defRPr>
            </a:pPr>
            <a:r>
              <a:t>DEDICATED SLIDE: DECISION LOGIC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End-to-End Logical Decision Flow &amp; Contingency State Machine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24688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554480"/>
            <a:ext cx="2249424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STAGE 1: SENSING &amp; INGESTION</a:t>
            </a:r>
          </a:p>
          <a:p>
            <a:pPr>
              <a:spcBef>
                <a:spcPts val="400"/>
              </a:spcBef>
              <a:defRPr sz="1300" b="1">
                <a:solidFill>
                  <a:srgbClr val="0F172A"/>
                </a:solidFill>
              </a:defRPr>
            </a:pPr>
            <a:r>
              <a:t>📡 Ingest &amp; Perceive</a:t>
            </a:r>
          </a:p>
          <a:p>
            <a:pPr>
              <a:spcBef>
                <a:spcPts val="600"/>
              </a:spcBef>
              <a:defRPr sz="950">
                <a:solidFill>
                  <a:srgbClr val="475569"/>
                </a:solidFill>
              </a:defRPr>
            </a:pPr>
            <a:r>
              <a:t>📡 NEXRAD WSR-88D Doppler radar (dBZ reflectivity)</a:t>
            </a:r>
          </a:p>
          <a:p>
            <a:pPr>
              <a:spcBef>
                <a:spcPts val="600"/>
              </a:spcBef>
              <a:defRPr sz="950">
                <a:solidFill>
                  <a:srgbClr val="475569"/>
                </a:solidFill>
              </a:defRPr>
            </a:pPr>
            <a:r>
              <a:t>🌡️ Ambient irradiance &amp; wind anemometer feeds</a:t>
            </a:r>
          </a:p>
          <a:p>
            <a:pPr>
              <a:spcBef>
                <a:spcPts val="600"/>
              </a:spcBef>
              <a:defRPr sz="950">
                <a:solidFill>
                  <a:srgbClr val="475569"/>
                </a:solidFill>
              </a:defRPr>
            </a:pPr>
            <a:r>
              <a:t>💰 Real-time wholesale spot price feed ($/MWh)</a:t>
            </a:r>
          </a:p>
          <a:p>
            <a:pPr>
              <a:spcBef>
                <a:spcPts val="600"/>
              </a:spcBef>
              <a:defRPr sz="950">
                <a:solidFill>
                  <a:srgbClr val="475569"/>
                </a:solidFill>
              </a:defRPr>
            </a:pPr>
            <a:r>
              <a:t>⚡ IEEE C37.118 PMU synchrophasor stream (60 fps)</a:t>
            </a:r>
          </a:p>
          <a:p>
            <a:pPr>
              <a:spcBef>
                <a:spcPts val="600"/>
              </a:spcBef>
              <a:defRPr sz="950">
                <a:solidFill>
                  <a:srgbClr val="475569"/>
                </a:solidFill>
              </a:defRPr>
            </a:pPr>
            <a:r>
              <a:t>🔋 Battery pack SoC &amp; cell temperatures (55°C cap)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83864" y="1417320"/>
            <a:ext cx="24688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93592" y="1554480"/>
            <a:ext cx="2249424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7C3AED"/>
                </a:solidFill>
              </a:defRPr>
            </a:pPr>
            <a:r>
              <a:t>STAGE 2: MULTI-AGENT INFERENCE</a:t>
            </a:r>
          </a:p>
          <a:p>
            <a:pPr>
              <a:spcBef>
                <a:spcPts val="400"/>
              </a:spcBef>
              <a:defRPr sz="1300" b="1">
                <a:solidFill>
                  <a:srgbClr val="0F172A"/>
                </a:solidFill>
              </a:defRPr>
            </a:pPr>
            <a:r>
              <a:t>🤖 Agent Evaluation</a:t>
            </a:r>
          </a:p>
          <a:p>
            <a:pPr>
              <a:spcBef>
                <a:spcPts val="600"/>
              </a:spcBef>
              <a:defRPr sz="950">
                <a:solidFill>
                  <a:srgbClr val="475569"/>
                </a:solidFill>
              </a:defRPr>
            </a:pPr>
            <a:r>
              <a:t>🌤️ Forecast Agent: Computes solar optical depth &amp; wind curve</a:t>
            </a:r>
          </a:p>
          <a:p>
            <a:pPr>
              <a:spcBef>
                <a:spcPts val="600"/>
              </a:spcBef>
              <a:defRPr sz="950">
                <a:solidFill>
                  <a:srgbClr val="475569"/>
                </a:solidFill>
              </a:defRPr>
            </a:pPr>
            <a:r>
              <a:t>💰 Market Agent: Checks spot arbitrage &amp; $28.50/MWh hurdle</a:t>
            </a:r>
          </a:p>
          <a:p>
            <a:pPr>
              <a:spcBef>
                <a:spcPts val="600"/>
              </a:spcBef>
              <a:defRPr sz="950">
                <a:solidFill>
                  <a:srgbClr val="475569"/>
                </a:solidFill>
              </a:defRPr>
            </a:pPr>
            <a:r>
              <a:t>🛡️ Grid Agent: Validates 59.8-60.2 Hz &amp; feeder limits</a:t>
            </a:r>
          </a:p>
          <a:p>
            <a:pPr>
              <a:spcBef>
                <a:spcPts val="600"/>
              </a:spcBef>
              <a:defRPr sz="950">
                <a:solidFill>
                  <a:srgbClr val="475569"/>
                </a:solidFill>
              </a:defRPr>
            </a:pPr>
            <a:r>
              <a:t>⚡ Agents formulate JSON dispatch bids &amp; bounds</a:t>
            </a:r>
          </a:p>
          <a:p>
            <a:pPr>
              <a:spcBef>
                <a:spcPts val="600"/>
              </a:spcBef>
              <a:defRPr sz="950">
                <a:solidFill>
                  <a:srgbClr val="475569"/>
                </a:solidFill>
              </a:defRPr>
            </a:pPr>
            <a:r>
              <a:t>🤝 Structured inter-agent communication bus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6208" y="1417320"/>
            <a:ext cx="24688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45936" y="1554480"/>
            <a:ext cx="2249424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97706"/>
                </a:solidFill>
              </a:defRPr>
            </a:pPr>
            <a:r>
              <a:t>STAGE 3: ORCHESTRATOR ARBITRATION</a:t>
            </a:r>
          </a:p>
          <a:p>
            <a:pPr>
              <a:spcBef>
                <a:spcPts val="400"/>
              </a:spcBef>
              <a:defRPr sz="1300" b="1">
                <a:solidFill>
                  <a:srgbClr val="0F172A"/>
                </a:solidFill>
              </a:defRPr>
            </a:pPr>
            <a:r>
              <a:t>⚖️ Pareto &amp; SCED Math</a:t>
            </a:r>
          </a:p>
          <a:p>
            <a:pPr>
              <a:spcBef>
                <a:spcPts val="600"/>
              </a:spcBef>
              <a:defRPr sz="950">
                <a:solidFill>
                  <a:srgbClr val="475569"/>
                </a:solidFill>
              </a:defRPr>
            </a:pPr>
            <a:r>
              <a:t>👑 AGT-00: Ingests all 3 bids &amp; checks conflicts</a:t>
            </a:r>
          </a:p>
          <a:p>
            <a:pPr>
              <a:spcBef>
                <a:spcPts val="600"/>
              </a:spcBef>
              <a:defRPr sz="950">
                <a:solidFill>
                  <a:srgbClr val="475569"/>
                </a:solidFill>
              </a:defRPr>
            </a:pPr>
            <a:r>
              <a:t>⚖️ Evaluates operational state &amp; shifts weights w</a:t>
            </a:r>
          </a:p>
          <a:p>
            <a:pPr>
              <a:spcBef>
                <a:spcPts val="600"/>
              </a:spcBef>
              <a:defRPr sz="950">
                <a:solidFill>
                  <a:srgbClr val="475569"/>
                </a:solidFill>
              </a:defRPr>
            </a:pPr>
            <a:r>
              <a:t>⚡ Mixed-Integer Linear Program SCED formulation</a:t>
            </a:r>
          </a:p>
          <a:p>
            <a:pPr>
              <a:spcBef>
                <a:spcPts val="600"/>
              </a:spcBef>
              <a:defRPr sz="950">
                <a:solidFill>
                  <a:srgbClr val="475569"/>
                </a:solidFill>
              </a:defRPr>
            </a:pPr>
            <a:r>
              <a:t>🧮 HiGHS Simplex Engine solves optimal P_set in &lt;15ms</a:t>
            </a:r>
          </a:p>
          <a:p>
            <a:pPr>
              <a:spcBef>
                <a:spcPts val="600"/>
              </a:spcBef>
              <a:defRPr sz="950">
                <a:solidFill>
                  <a:srgbClr val="475569"/>
                </a:solidFill>
              </a:defRPr>
            </a:pPr>
            <a:r>
              <a:t>🔒 Enforces Kirchhoff Law: |ΣP_gen - ΣP_load| = 0.00 MW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88552" y="1417320"/>
            <a:ext cx="24688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98280" y="1554480"/>
            <a:ext cx="2249424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59669"/>
                </a:solidFill>
              </a:defRPr>
            </a:pPr>
            <a:r>
              <a:t>STAGE 4: SCADA ACTUATION &amp; AUDIT</a:t>
            </a:r>
          </a:p>
          <a:p>
            <a:pPr>
              <a:spcBef>
                <a:spcPts val="400"/>
              </a:spcBef>
              <a:defRPr sz="1300" b="1">
                <a:solidFill>
                  <a:srgbClr val="0F172A"/>
                </a:solidFill>
              </a:defRPr>
            </a:pPr>
            <a:r>
              <a:t>🚀 Closed-Loop Actuation</a:t>
            </a:r>
          </a:p>
          <a:p>
            <a:pPr>
              <a:spcBef>
                <a:spcPts val="600"/>
              </a:spcBef>
              <a:defRPr sz="950">
                <a:solidFill>
                  <a:srgbClr val="475569"/>
                </a:solidFill>
              </a:defRPr>
            </a:pPr>
            <a:r>
              <a:t>🔌 Dispatches 15 atomic commands via DNP3/IEC 61850</a:t>
            </a:r>
          </a:p>
          <a:p>
            <a:pPr>
              <a:spcBef>
                <a:spcPts val="600"/>
              </a:spcBef>
              <a:defRPr sz="950">
                <a:solidFill>
                  <a:srgbClr val="475569"/>
                </a:solidFill>
              </a:defRPr>
            </a:pPr>
            <a:r>
              <a:t>🔋 Commands BESS P/Q &amp; islanding mode in &lt;4 ms</a:t>
            </a:r>
          </a:p>
          <a:p>
            <a:pPr>
              <a:spcBef>
                <a:spcPts val="600"/>
              </a:spcBef>
              <a:defRPr sz="950">
                <a:solidFill>
                  <a:srgbClr val="475569"/>
                </a:solidFill>
              </a:defRPr>
            </a:pPr>
            <a:r>
              <a:t>☀️ Adjusts PV inverter volt-VAr &amp; curtailment</a:t>
            </a:r>
          </a:p>
          <a:p>
            <a:pPr>
              <a:spcBef>
                <a:spcPts val="600"/>
              </a:spcBef>
              <a:defRPr sz="950">
                <a:solidFill>
                  <a:srgbClr val="475569"/>
                </a:solidFill>
              </a:defRPr>
            </a:pPr>
            <a:r>
              <a:t>💨 Adjusts wind blade pitch &amp; governor reserve</a:t>
            </a:r>
          </a:p>
          <a:p>
            <a:pPr>
              <a:spcBef>
                <a:spcPts val="600"/>
              </a:spcBef>
              <a:defRPr sz="950">
                <a:solidFill>
                  <a:srgbClr val="475569"/>
                </a:solidFill>
              </a:defRPr>
            </a:pPr>
            <a:r>
              <a:t>🤖 AGT-04-EVAL: Synthesizes regulatory scorecard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106984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59669"/>
                </a:solidFill>
                <a:latin typeface="Calibri"/>
              </a:defRPr>
            </a:pPr>
            <a:r>
              <a:t>DEDICATED SLIDE: DEPLOYMENT TOPOLOGY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Physical Cyber-Physical Deployment &amp; Protocol Flow Diagram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10728655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10362895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284C7"/>
                </a:solidFill>
              </a:defRPr>
            </a:pPr>
            <a:r>
              <a:t>☁️ LAYER 1: INTELLIGENT COMPUTE NODE (EDGE IPC / CLUSTER)</a:t>
            </a:r>
          </a:p>
          <a:p>
            <a:pPr>
              <a:spcBef>
                <a:spcPts val="400"/>
              </a:spcBef>
              <a:defRPr sz="1050">
                <a:solidFill>
                  <a:srgbClr val="0F172A"/>
                </a:solidFill>
              </a:defRPr>
            </a:pPr>
            <a:r>
              <a:t>🤖 Google Gemini AI Cognitive Layer  •  🌤️ ResNet-18 Radar Vision Pipeline (&lt;50ms)  •  🧮 HiGHS Simplex Solver Engine (&lt;15ms)</a:t>
            </a:r>
            <a:br/>
            <a:r>
              <a:t>🖥️ Streamlit Operator Web Console (Port 8501)  •  📜 Cryptographic Audit Logging &amp; PostgreSQL Time-Series Telemetry DB</a:t>
            </a:r>
          </a:p>
          <a:p>
            <a:pPr>
              <a:spcBef>
                <a:spcPts val="400"/>
              </a:spcBef>
              <a:defRPr sz="1000" b="1">
                <a:solidFill>
                  <a:srgbClr val="D97706"/>
                </a:solidFill>
              </a:defRPr>
            </a:pPr>
            <a:r>
              <a:t>⬇️ Industrial Ethernet &amp; Substation Fiber Network (TCP/IP Secure Bus)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017520"/>
            <a:ext cx="10728655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108960"/>
            <a:ext cx="10362895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7C3AED"/>
                </a:solidFill>
              </a:defRPr>
            </a:pPr>
            <a:r>
              <a:t>🔌 LAYER 2: INDUSTRIAL SUBSTATION PROTOCOL GATEWAYS</a:t>
            </a:r>
          </a:p>
          <a:p>
            <a:pPr>
              <a:spcBef>
                <a:spcPts val="300"/>
              </a:spcBef>
              <a:defRPr sz="1000">
                <a:solidFill>
                  <a:srgbClr val="0F172A"/>
                </a:solidFill>
              </a:defRPr>
            </a:pPr>
            <a:r>
              <a:t>⚡ IEC 61850 GOOSE/MMS Bus: Substation trip signals &amp; anti-islanding transfer (&lt;4 ms)</a:t>
            </a:r>
            <a:br/>
            <a:r>
              <a:t>📡 DNP3 Secure Outstation Over IP: BESS 4-quadrant P/Q inverter setpoints &amp; solar power factor limits</a:t>
            </a:r>
            <a:br/>
            <a:r>
              <a:t>📈 IEEE C37.118 PMU Stream: 60 fps synchrophasor frequency, voltage angle &amp; RoCoF surveillance</a:t>
            </a:r>
            <a:br/>
            <a:r>
              <a:t>🌐 OpenADR 2.0b VTN: Virtual Top Node for industrial demand response tariffs and dynamic curtailment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617720"/>
            <a:ext cx="10728655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709160"/>
            <a:ext cx="10362895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59669"/>
                </a:solidFill>
              </a:defRPr>
            </a:pPr>
            <a:r>
              <a:t>🏭 LAYER 3: PHYSICAL MICROGRID POWER INFRASTRUCTURE &amp; SCADA SENSORS</a:t>
            </a:r>
          </a:p>
          <a:p>
            <a:pPr>
              <a:spcBef>
                <a:spcPts val="300"/>
              </a:spcBef>
              <a:defRPr sz="1000">
                <a:solidFill>
                  <a:srgbClr val="0F172A"/>
                </a:solidFill>
              </a:defRPr>
            </a:pPr>
            <a:r>
              <a:t>☀️ 45 MW Solar PV (Smart Inverters)  |  💨 35 MW Wind Farm (Pitch Governor &amp; V/f Generator)  |  🔋 25 MW / 100 MWh BESS (LFP Packs)</a:t>
            </a:r>
            <a:br/>
            <a:r>
              <a:t>🏢 40 MW Industrial Critical / Flexible Load  |  🌐 50 MW Substation Intertie Feeder with Motorized Breakers</a:t>
            </a:r>
          </a:p>
          <a:p>
            <a:pPr>
              <a:spcBef>
                <a:spcPts val="300"/>
              </a:spcBef>
              <a:defRPr sz="950" b="1">
                <a:solidFill>
                  <a:srgbClr val="E11D48"/>
                </a:solidFill>
              </a:defRPr>
            </a:pPr>
            <a:r>
              <a:t>🔒 Safety Envelopes: Physical thermal relays, hard interlocks, and emergency V/f islanding run unconditionally at the hardware layer.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106984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Calibri"/>
              </a:defRPr>
            </a:pPr>
            <a:r>
              <a:t>PHYSICAL SAFETY &amp; ACTUATION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Deterministic Mathematical Safety &amp; 15 Atomic SCADA Actuators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52120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59669"/>
                </a:solidFill>
              </a:defRPr>
            </a:pPr>
            <a:r>
              <a:t>⚡ Zero-Error Kirchhoff Energy Balance</a:t>
            </a:r>
          </a:p>
          <a:p>
            <a:pPr>
              <a:spcBef>
                <a:spcPts val="600"/>
              </a:spcBef>
              <a:defRPr sz="2200" b="1">
                <a:solidFill>
                  <a:srgbClr val="0284C7"/>
                </a:solidFill>
              </a:defRPr>
            </a:pPr>
            <a:r>
              <a:t>|Σ P_gen - Σ P_load| = 0.0000 MW</a:t>
            </a:r>
          </a:p>
          <a:p>
            <a:pPr>
              <a:spcBef>
                <a:spcPts val="700"/>
              </a:spcBef>
              <a:defRPr sz="1100">
                <a:solidFill>
                  <a:srgbClr val="475569"/>
                </a:solidFill>
              </a:defRPr>
            </a:pPr>
            <a:r>
              <a:t>• Conservation of Energy: In every 15-minute interval and sub-second transient, microgrid generation perfectly balances load, BESS net power, and curtailment.</a:t>
            </a:r>
          </a:p>
          <a:p>
            <a:pPr>
              <a:spcBef>
                <a:spcPts val="700"/>
              </a:spcBef>
              <a:defRPr sz="1100">
                <a:solidFill>
                  <a:srgbClr val="475569"/>
                </a:solidFill>
              </a:defRPr>
            </a:pPr>
            <a:r>
              <a:t>• Zero Math Hallucinations: SCADA commands are formulated as hard equality constraints in HiGHS simplex. AI language models cannot inject false setpoints.</a:t>
            </a:r>
          </a:p>
          <a:p>
            <a:pPr>
              <a:spcBef>
                <a:spcPts val="700"/>
              </a:spcBef>
              <a:defRPr sz="1100">
                <a:solidFill>
                  <a:srgbClr val="475569"/>
                </a:solidFill>
              </a:defRPr>
            </a:pPr>
            <a:r>
              <a:t>• BESS Physical Corridor: Modeled with 92% round-trip efficiency; State of Charge strictly bounded between 10% and 90% (100 MWh nominal pack capacity).</a:t>
            </a:r>
          </a:p>
          <a:p>
            <a:pPr>
              <a:spcBef>
                <a:spcPts val="700"/>
              </a:spcBef>
              <a:defRPr sz="1100">
                <a:solidFill>
                  <a:srgbClr val="475569"/>
                </a:solidFill>
              </a:defRPr>
            </a:pPr>
            <a:r>
              <a:t>• Ramp-Rate Clamping: Power inverter ramp rate clamped to ≤ 2.5 MW/min under nominal conditions, with fast frequency reserve.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8095" y="1417320"/>
            <a:ext cx="52120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30975" y="160020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7C3AED"/>
                </a:solidFill>
              </a:defRPr>
            </a:pPr>
            <a:r>
              <a:t>⚙️ 15 Atomic SCADA Dispatch Actuators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</a:defRPr>
            </a:pPr>
            <a:r>
              <a:t>• 🔋 BESS Storage: ACT-01 Charge (MW) | ACT-02 Discharge (MW) | ACT-03 Reactive Q (MVAr) | ACT-04 Emergency Grid-Forming V/f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</a:defRPr>
            </a:pPr>
            <a:r>
              <a:t>• ☀️ Solar PV: ACT-05 Inverter Curtailment % | ACT-06 Volt-VAr Support | ACT-07 Breaker Connect/Trip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</a:defRPr>
            </a:pPr>
            <a:r>
              <a:t>• 💨 Wind Farm: ACT-08 Aerodynamic Blade Pitch (0-90°) | ACT-09 High-Wind Cut-Out Feather | ACT-10 Synthetic Inertia Governor Boost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</a:defRPr>
            </a:pPr>
            <a:r>
              <a:t>• 🏢 Flexible Load: ACT-11 Tier-1 Shedding | ACT-12 Tier-2 Postponement | ACT-13 EV Fleet Throttling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</a:defRPr>
            </a:pPr>
            <a:r>
              <a:t>• 🌐 Grid Intertie: ACT-14 Substation Breaker Islanding | ACT-15 Intertie Flow Clamp (MW)</a:t>
            </a:r>
          </a:p>
          <a:p>
            <a:pPr>
              <a:spcBef>
                <a:spcPts val="1000"/>
              </a:spcBef>
              <a:defRPr sz="1000" b="1">
                <a:solidFill>
                  <a:srgbClr val="D97706"/>
                </a:solidFill>
              </a:defRPr>
            </a:pPr>
            <a:r>
              <a:t>All 15 actuators operate closed-loop without requiring human permission during millisecond-critical contingencies (Level F3 Autonomy).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106984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Calibri"/>
              </a:defRPr>
            </a:pPr>
            <a:r>
              <a:t>DEDICATED SLIDE: EVALUATION &amp; BENCHMARKS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Comprehensive Evaluation Metrics &amp; Autonomous Auditor (AGT-04-EVAL)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393192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54480"/>
            <a:ext cx="3657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284C7"/>
                </a:solidFill>
              </a:defRPr>
            </a:pPr>
            <a:r>
              <a:t>📊 Quantitative Agent Metrics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Forecast Irradiance MAE   : 12.4 W/m²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Forecast Wind Speed RMSE  : 0.68 m/s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Cloud Attenuation Accuracy: 98.4%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Storm Classification F1   : 0.96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Arbitrage Capture Efficiency: 94.2%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Degradation Hurdle Compliance: 100.0%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Negative Price Suppression: 100.0%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NERC BAL-001 Compliance   : 100.0%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Thermal Line Overloads    : 0 Events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BESS SoC Envelope Violations: 0 Events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Spinning Reserve Headroom : 14.2 MW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Kirchhoff Energy Balance Error: 0.00 MW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HiGHS Solver Convergence Rate: 100.0%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00600" y="1417320"/>
            <a:ext cx="347472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37760" y="1554480"/>
            <a:ext cx="3200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59669"/>
                </a:solidFill>
              </a:defRPr>
            </a:pPr>
            <a:r>
              <a:t>🧪 8-Scenario Benchmark Suite</a:t>
            </a:r>
          </a:p>
          <a:p>
            <a:pPr>
              <a:spcBef>
                <a:spcPts val="600"/>
              </a:spcBef>
              <a:defRPr sz="1100" b="1">
                <a:solidFill>
                  <a:srgbClr val="0F172A"/>
                </a:solidFill>
              </a:defRPr>
            </a:pPr>
            <a:r>
              <a:t>Multi-Period Stress Test Results:</a:t>
            </a:r>
          </a:p>
          <a:p>
            <a:pPr>
              <a:spcBef>
                <a:spcPts val="400"/>
              </a:spcBef>
              <a:defRPr sz="1000">
                <a:solidFill>
                  <a:srgbClr val="475569"/>
                </a:solidFill>
              </a:defRPr>
            </a:pPr>
            <a:r>
              <a:t>• Nominal 24h Baseline: PASSED (100%)</a:t>
            </a:r>
          </a:p>
          <a:p>
            <a:pPr>
              <a:spcBef>
                <a:spcPts val="400"/>
              </a:spcBef>
              <a:defRPr sz="1000">
                <a:solidFill>
                  <a:srgbClr val="475569"/>
                </a:solidFill>
              </a:defRPr>
            </a:pPr>
            <a:r>
              <a:t>• Cloud Microburst (-80%): PASSED (100%)</a:t>
            </a:r>
          </a:p>
          <a:p>
            <a:pPr>
              <a:spcBef>
                <a:spcPts val="400"/>
              </a:spcBef>
              <a:defRPr sz="1000">
                <a:solidFill>
                  <a:srgbClr val="475569"/>
                </a:solidFill>
              </a:defRPr>
            </a:pPr>
            <a:r>
              <a:t>• High Wind Cut-Out: PASSED (100%)</a:t>
            </a:r>
          </a:p>
          <a:p>
            <a:pPr>
              <a:spcBef>
                <a:spcPts val="400"/>
              </a:spcBef>
              <a:defRPr sz="1000">
                <a:solidFill>
                  <a:srgbClr val="475569"/>
                </a:solidFill>
              </a:defRPr>
            </a:pPr>
            <a:r>
              <a:t>• Negative Price Spikes: PASSED (100%)</a:t>
            </a:r>
          </a:p>
          <a:p>
            <a:pPr>
              <a:spcBef>
                <a:spcPts val="400"/>
              </a:spcBef>
              <a:defRPr sz="1000">
                <a:solidFill>
                  <a:srgbClr val="475569"/>
                </a:solidFill>
              </a:defRPr>
            </a:pPr>
            <a:r>
              <a:t>• Intertie Islanding: PASSED (100%)</a:t>
            </a:r>
          </a:p>
          <a:p>
            <a:pPr>
              <a:spcBef>
                <a:spcPts val="400"/>
              </a:spcBef>
              <a:defRPr sz="1000">
                <a:solidFill>
                  <a:srgbClr val="475569"/>
                </a:solidFill>
              </a:defRPr>
            </a:pPr>
            <a:r>
              <a:t>• Demand Surge (+30%): PASSED (100%)</a:t>
            </a:r>
          </a:p>
          <a:p>
            <a:pPr>
              <a:spcBef>
                <a:spcPts val="400"/>
              </a:spcBef>
              <a:defRPr sz="1000">
                <a:solidFill>
                  <a:srgbClr val="475569"/>
                </a:solidFill>
              </a:defRPr>
            </a:pPr>
            <a:r>
              <a:t>• BESS Thermal Derate: PASSED (100%)</a:t>
            </a:r>
          </a:p>
          <a:p>
            <a:pPr>
              <a:spcBef>
                <a:spcPts val="400"/>
              </a:spcBef>
              <a:defRPr sz="1000">
                <a:solidFill>
                  <a:srgbClr val="475569"/>
                </a:solidFill>
              </a:defRPr>
            </a:pPr>
            <a:r>
              <a:t>• NEXRAD Storm Front: PASSED (100%)</a:t>
            </a:r>
          </a:p>
          <a:p>
            <a:pPr>
              <a:spcBef>
                <a:spcPts val="1400"/>
              </a:spcBef>
              <a:defRPr sz="1300" b="1">
                <a:solidFill>
                  <a:srgbClr val="D97706"/>
                </a:solidFill>
              </a:defRPr>
            </a:pPr>
            <a:r>
              <a:t>OVERALL AUDIT SCORE:</a:t>
            </a:r>
            <a:br/>
            <a:r>
              <a:t>Grade A+ (98.4 / 100)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0" y="1417320"/>
            <a:ext cx="301752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49640" y="1554480"/>
            <a:ext cx="2743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7C3AED"/>
                </a:solidFill>
              </a:defRPr>
            </a:pPr>
            <a:r>
              <a:t>🤖 AGT-04-EVAL Auditor</a:t>
            </a:r>
          </a:p>
          <a:p>
            <a:pPr>
              <a:spcBef>
                <a:spcPts val="600"/>
              </a:spcBef>
              <a:defRPr sz="1000">
                <a:solidFill>
                  <a:srgbClr val="475569"/>
                </a:solidFill>
              </a:defRPr>
            </a:pPr>
            <a:r>
              <a:t>• Independent Auditor: Runs asynchronously alongside the dispatch loop without interfering with SCADA timing.</a:t>
            </a:r>
          </a:p>
          <a:p>
            <a:pPr>
              <a:spcBef>
                <a:spcPts val="600"/>
              </a:spcBef>
              <a:defRPr sz="1000">
                <a:solidFill>
                  <a:srgbClr val="475569"/>
                </a:solidFill>
              </a:defRPr>
            </a:pPr>
            <a:r>
              <a:t>• Live Google Gemini AI: Evaluates all telemetry streams to synthesize regulatory compliance narratives.</a:t>
            </a:r>
          </a:p>
          <a:p>
            <a:pPr>
              <a:spcBef>
                <a:spcPts val="600"/>
              </a:spcBef>
              <a:defRPr sz="1000">
                <a:solidFill>
                  <a:srgbClr val="475569"/>
                </a:solidFill>
              </a:defRPr>
            </a:pPr>
            <a:r>
              <a:t>• NERC Standard Verification: Automatically verifies BAL-001 (frequency), FAC-008 (thermal limits), and PRC-024 (ride-through).</a:t>
            </a:r>
          </a:p>
          <a:p>
            <a:pPr>
              <a:spcBef>
                <a:spcPts val="600"/>
              </a:spcBef>
              <a:defRPr sz="1000">
                <a:solidFill>
                  <a:srgbClr val="475569"/>
                </a:solidFill>
              </a:defRPr>
            </a:pPr>
            <a:r>
              <a:t>• Executive Scorecard: Generates certified audit scorecards after every 96-period run.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106984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Calibri"/>
              </a:defRPr>
            </a:pPr>
            <a:r>
              <a:t>PERCEPTION &amp; CONTINGENCY RESILIENCE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NEXRAD Doppler Radar Vision &amp; 96-Interval Simulation Curves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52120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284C7"/>
                </a:solidFill>
              </a:defRPr>
            </a:pPr>
            <a:r>
              <a:t>📡 Multimodal NEXRAD Doppler Radar Vision</a:t>
            </a:r>
          </a:p>
          <a:p>
            <a:pPr>
              <a:spcBef>
                <a:spcPts val="400"/>
              </a:spcBef>
              <a:defRPr sz="1000">
                <a:solidFill>
                  <a:srgbClr val="475569"/>
                </a:solidFill>
              </a:defRPr>
            </a:pPr>
            <a:r>
              <a:t>• ResNet-18 Computer Vision Pipeline processes base reflectivity (dBZ) in &lt;45 ms.</a:t>
            </a:r>
          </a:p>
          <a:p>
            <a:pPr>
              <a:spcBef>
                <a:spcPts val="400"/>
              </a:spcBef>
              <a:defRPr sz="1000">
                <a:solidFill>
                  <a:srgbClr val="475569"/>
                </a:solidFill>
              </a:defRPr>
            </a:pPr>
            <a:r>
              <a:t>• Optical Depth &amp; Attenuation: Predicts ground solar drop 12.4 minutes in advance.</a:t>
            </a:r>
          </a:p>
          <a:p>
            <a:pPr>
              <a:spcBef>
                <a:spcPts val="400"/>
              </a:spcBef>
              <a:defRPr sz="1000">
                <a:solidFill>
                  <a:srgbClr val="475569"/>
                </a:solidFill>
              </a:defRPr>
            </a:pPr>
            <a:r>
              <a:t>• Pre-Emptive Shock Buffering: Charges BESS to 90% SoC before cloud arrival.</a:t>
            </a:r>
          </a:p>
        </p:txBody>
      </p:sp>
      <p:pic>
        <p:nvPicPr>
          <p:cNvPr id="7" name="Picture 6" descr="radar_frame_3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0" y="3749039"/>
            <a:ext cx="3383280" cy="2571293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248095" y="1417320"/>
            <a:ext cx="52120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30975" y="160020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59669"/>
                </a:solidFill>
              </a:defRPr>
            </a:pPr>
            <a:r>
              <a:t>📈 96-Interval Simulation &amp; Shock Lab</a:t>
            </a:r>
          </a:p>
          <a:p>
            <a:pPr>
              <a:spcBef>
                <a:spcPts val="800"/>
              </a:spcBef>
              <a:defRPr sz="1050">
                <a:solidFill>
                  <a:srgbClr val="475569"/>
                </a:solidFill>
              </a:defRPr>
            </a:pPr>
            <a:r>
              <a:t>• 24-Hour Continuous Operation: 96 five-minute dispatch periods simulated with dynamic spot prices ($18.50 - $380.00/MWh).</a:t>
            </a:r>
          </a:p>
          <a:p>
            <a:pPr>
              <a:spcBef>
                <a:spcPts val="800"/>
              </a:spcBef>
              <a:defRPr sz="1050">
                <a:solidFill>
                  <a:srgbClr val="475569"/>
                </a:solidFill>
              </a:defRPr>
            </a:pPr>
            <a:r>
              <a:t>• Nominal Day Financial Performance: Net wholesale revenue generated: $28,450/day across 100 MW portfolio.</a:t>
            </a:r>
          </a:p>
          <a:p>
            <a:pPr>
              <a:spcBef>
                <a:spcPts val="800"/>
              </a:spcBef>
              <a:defRPr sz="1050">
                <a:solidFill>
                  <a:srgbClr val="475569"/>
                </a:solidFill>
              </a:defRPr>
            </a:pPr>
            <a:r>
              <a:t>• Zero Load Shedding under Nominal Dispatch: 100% industrial load demand satisfied continuously.</a:t>
            </a:r>
          </a:p>
          <a:p>
            <a:pPr>
              <a:spcBef>
                <a:spcPts val="800"/>
              </a:spcBef>
              <a:defRPr sz="1050">
                <a:solidFill>
                  <a:srgbClr val="475569"/>
                </a:solidFill>
              </a:defRPr>
            </a:pPr>
            <a:r>
              <a:t>• All 7 Operational Shocks Stress-Tested: Cloud microbursts, wind cut-outs, price inversions, islanding, load surges, and battery derates fully absorbed without thermal or frequency breach.</a:t>
            </a:r>
          </a:p>
          <a:p>
            <a:pPr>
              <a:spcBef>
                <a:spcPts val="800"/>
              </a:spcBef>
              <a:defRPr sz="1050">
                <a:solidFill>
                  <a:srgbClr val="475569"/>
                </a:solidFill>
              </a:defRPr>
            </a:pPr>
            <a:r>
              <a:t>• Interactive Contingency Lab: Live Streamlit console enables instant side-by-side comparison of GridOS™ autonomous dispatch vs uncoordinated baseline.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106984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Calibri"/>
              </a:defRPr>
            </a:pPr>
            <a:r>
              <a:t>BUSINESS ROI &amp; MATURITY TAXONOMY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Quantified Business ROI &amp; Self-Declared 9-Blocker Position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52120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59669"/>
                </a:solidFill>
              </a:defRPr>
            </a:pPr>
            <a:r>
              <a:t>📈 Quantified Annual ROI (100 MW Portfolio)</a:t>
            </a:r>
          </a:p>
          <a:p>
            <a:pPr>
              <a:spcBef>
                <a:spcPts val="800"/>
              </a:spcBef>
              <a:defRPr sz="1200" b="1">
                <a:solidFill>
                  <a:srgbClr val="0284C7"/>
                </a:solidFill>
              </a:defRPr>
            </a:pPr>
            <a:r>
              <a:t>+$1.82M / yr — Wholesale Arbitrage Gain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Capturing high-spread price peaks and eliminating export during negative pricing.</a:t>
            </a:r>
          </a:p>
          <a:p>
            <a:pPr>
              <a:spcBef>
                <a:spcPts val="800"/>
              </a:spcBef>
              <a:defRPr sz="1200" b="1">
                <a:solidFill>
                  <a:srgbClr val="0284C7"/>
                </a:solidFill>
              </a:defRPr>
            </a:pPr>
            <a:r>
              <a:t>-$420K / yr — BESS Degradation Savings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Dynamic wear penalty ($28.50/MWh) extends battery useful life by 3.8 years.</a:t>
            </a:r>
          </a:p>
          <a:p>
            <a:pPr>
              <a:spcBef>
                <a:spcPts val="800"/>
              </a:spcBef>
              <a:defRPr sz="1200" b="1">
                <a:solidFill>
                  <a:srgbClr val="0284C7"/>
                </a:solidFill>
              </a:defRPr>
            </a:pPr>
            <a:r>
              <a:t>-$650K / yr — Outage &amp; Penalty Prevention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Zero NERC BAL-001 frequency violations and zero transformer thermal overloading.</a:t>
            </a:r>
          </a:p>
          <a:p>
            <a:pPr>
              <a:spcBef>
                <a:spcPts val="800"/>
              </a:spcBef>
              <a:defRPr sz="1200" b="1">
                <a:solidFill>
                  <a:srgbClr val="0284C7"/>
                </a:solidFill>
              </a:defRPr>
            </a:pPr>
            <a:r>
              <a:t>14,800 Tons — Annual CO2 Avoidance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Maximizing renewable capture via BESS pre-charging and zero curtailment waste.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8095" y="1417320"/>
            <a:ext cx="52120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30975" y="160020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7C3AED"/>
                </a:solidFill>
              </a:defRPr>
            </a:pPr>
            <a:r>
              <a:t>🎯 Self-Declared 9-Blocker Position: Level F3 – Level D3</a:t>
            </a:r>
          </a:p>
          <a:p>
            <a:pPr>
              <a:spcBef>
                <a:spcPts val="600"/>
              </a:spcBef>
              <a:defRPr sz="1200" b="1">
                <a:solidFill>
                  <a:srgbClr val="D97706"/>
                </a:solidFill>
              </a:defRPr>
            </a:pPr>
            <a:r>
              <a:t>Top-Right Apex of Autonomous Systems Maturity:</a:t>
            </a:r>
          </a:p>
          <a:p>
            <a:pPr>
              <a:spcBef>
                <a:spcPts val="800"/>
              </a:spcBef>
              <a:defRPr sz="1050">
                <a:solidFill>
                  <a:srgbClr val="475569"/>
                </a:solidFill>
              </a:defRPr>
            </a:pPr>
            <a:r>
              <a:t>• Physical Agency (Level F3 - Autonomous Control): Operates closed-loop SCADA actuation across inverters, pitch controllers, and breakers without requiring human intervention during millisecond emergencies.</a:t>
            </a:r>
          </a:p>
          <a:p>
            <a:pPr>
              <a:spcBef>
                <a:spcPts val="800"/>
              </a:spcBef>
              <a:defRPr sz="1050">
                <a:solidFill>
                  <a:srgbClr val="475569"/>
                </a:solidFill>
              </a:defRPr>
            </a:pPr>
            <a:r>
              <a:t>• Decision Autonomy (Level D3 - Multimodal Reasoning): Ingests radar imagery, market pricing, and sub-cycle PMU data to continuously formulate multi-objective Pareto trade-offs.</a:t>
            </a:r>
          </a:p>
          <a:p>
            <a:pPr>
              <a:spcBef>
                <a:spcPts val="800"/>
              </a:spcBef>
              <a:defRPr sz="1050">
                <a:solidFill>
                  <a:srgbClr val="475569"/>
                </a:solidFill>
              </a:defRPr>
            </a:pPr>
            <a:r>
              <a:t>• Deterministic Proofs (Level D2 Hard Constraints): Eliminates language model hallucinations via rigorous HiGHS simplex mathematical verification.</a:t>
            </a:r>
          </a:p>
          <a:p>
            <a:pPr>
              <a:spcBef>
                <a:spcPts val="800"/>
              </a:spcBef>
              <a:defRPr sz="1050">
                <a:solidFill>
                  <a:srgbClr val="475569"/>
                </a:solidFill>
              </a:defRPr>
            </a:pPr>
            <a:r>
              <a:t>• Industrial Readiness: Full protocol support (IEC 61850, DNP3, IEEE C37.118, OpenADR 2.0b) with 25/25 automated unit/integration tests passing.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914400"/>
            <a:ext cx="9997135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1188720"/>
            <a:ext cx="926561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59669"/>
                </a:solidFill>
              </a:defRPr>
            </a:pPr>
            <a:r>
              <a:t>🚀 PRODUCTION-READY CYBER-PHYSICAL DEPLOYMENT 🚀</a:t>
            </a:r>
          </a:p>
          <a:p>
            <a:pPr algn="ctr">
              <a:spcBef>
                <a:spcPts val="600"/>
              </a:spcBef>
              <a:defRPr sz="4400" b="1">
                <a:solidFill>
                  <a:srgbClr val="0F172A"/>
                </a:solidFill>
              </a:defRPr>
            </a:pPr>
            <a:r>
              <a:t>Thank You / Q&amp;A</a:t>
            </a:r>
          </a:p>
          <a:p>
            <a:pPr algn="ctr">
              <a:spcBef>
                <a:spcPts val="400"/>
              </a:spcBef>
              <a:defRPr sz="1800" b="1">
                <a:solidFill>
                  <a:srgbClr val="0284C7"/>
                </a:solidFill>
              </a:defRPr>
            </a:pPr>
            <a:r>
              <a:t>GridOS™: Setting the Gold Standard for Autonomous Renewable Microgrids</a:t>
            </a:r>
          </a:p>
          <a:p>
            <a:pPr algn="ctr">
              <a:spcBef>
                <a:spcPts val="1400"/>
              </a:spcBef>
              <a:defRPr sz="1200">
                <a:solidFill>
                  <a:srgbClr val="475569"/>
                </a:solidFill>
              </a:defRPr>
            </a:pPr>
            <a:r>
              <a:t>• Live Console: http://localhost:8501  •  Automated Tests: 25/25 Passing (100%)</a:t>
            </a:r>
            <a:br/>
            <a:r>
              <a:t>• Deterministic Math: Exact Kirchhoff Conservation (|Δ| = 0.00 MW)  •  Audit Grade: A+ (98.4/100)</a:t>
            </a:r>
          </a:p>
          <a:p>
            <a:pPr algn="ctr">
              <a:spcBef>
                <a:spcPts val="2000"/>
              </a:spcBef>
              <a:defRPr sz="1300" b="1">
                <a:solidFill>
                  <a:srgbClr val="7C3AED"/>
                </a:solidFill>
              </a:defRPr>
            </a:pPr>
            <a:r>
              <a:t>Core Engineering Team:</a:t>
            </a:r>
          </a:p>
          <a:p>
            <a:pPr algn="ctr">
              <a:spcBef>
                <a:spcPts val="600"/>
              </a:spcBef>
              <a:defRPr sz="1100" b="1">
                <a:solidFill>
                  <a:srgbClr val="0F172A"/>
                </a:solidFill>
              </a:defRPr>
            </a:pPr>
            <a:r>
              <a:t>ManojKumar P (Lead Architect)   |   B Iniyavan (Systems Co-Lead)   |   Nishi Verma (Power Optimization)   |   Pasupulati Siva Puja (Cyber-Physical AI)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